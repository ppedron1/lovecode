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12192000"/>
  <p:notesSz cx="6858000" cy="9144000"/>
  <p:embeddedFontLst>
    <p:embeddedFont>
      <p:font typeface="Poppins"/>
      <p:regular r:id="rId27"/>
      <p:bold r:id="rId28"/>
      <p:italic r:id="rId29"/>
      <p:boldItalic r:id="rId30"/>
    </p:embeddedFont>
    <p:embeddedFont>
      <p:font typeface="Lato"/>
      <p:regular r:id="rId31"/>
      <p:bold r:id="rId32"/>
      <p:italic r:id="rId33"/>
      <p:boldItalic r:id="rId34"/>
    </p:embeddedFont>
    <p:embeddedFont>
      <p:font typeface="Urbanist"/>
      <p:regular r:id="rId35"/>
      <p:bold r:id="rId36"/>
      <p:italic r:id="rId37"/>
      <p:boldItalic r:id="rId38"/>
    </p:embeddedFont>
    <p:embeddedFont>
      <p:font typeface="JetBrains Mono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BD28C0F-23C6-4881-B677-7C6E6D96A54B}">
  <a:tblStyle styleId="{CBD28C0F-23C6-4881-B677-7C6E6D96A54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JetBrainsMono-bold.fntdata"/><Relationship Id="rId20" Type="http://schemas.openxmlformats.org/officeDocument/2006/relationships/slide" Target="slides/slide14.xml"/><Relationship Id="rId42" Type="http://schemas.openxmlformats.org/officeDocument/2006/relationships/font" Target="fonts/JetBrainsMono-boldItalic.fntdata"/><Relationship Id="rId41" Type="http://schemas.openxmlformats.org/officeDocument/2006/relationships/font" Target="fonts/JetBrainsMono-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Poppins-bold.fntdata"/><Relationship Id="rId27" Type="http://schemas.openxmlformats.org/officeDocument/2006/relationships/font" Target="fonts/Poppins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regular.fntdata"/><Relationship Id="rId30" Type="http://schemas.openxmlformats.org/officeDocument/2006/relationships/font" Target="fonts/Poppins-boldItalic.fntdata"/><Relationship Id="rId11" Type="http://schemas.openxmlformats.org/officeDocument/2006/relationships/slide" Target="slides/slide5.xml"/><Relationship Id="rId33" Type="http://schemas.openxmlformats.org/officeDocument/2006/relationships/font" Target="fonts/Lato-italic.fntdata"/><Relationship Id="rId10" Type="http://schemas.openxmlformats.org/officeDocument/2006/relationships/slide" Target="slides/slide4.xml"/><Relationship Id="rId32" Type="http://schemas.openxmlformats.org/officeDocument/2006/relationships/font" Target="fonts/Lato-bold.fntdata"/><Relationship Id="rId13" Type="http://schemas.openxmlformats.org/officeDocument/2006/relationships/slide" Target="slides/slide7.xml"/><Relationship Id="rId35" Type="http://schemas.openxmlformats.org/officeDocument/2006/relationships/font" Target="fonts/Urbanist-regular.fntdata"/><Relationship Id="rId12" Type="http://schemas.openxmlformats.org/officeDocument/2006/relationships/slide" Target="slides/slide6.xml"/><Relationship Id="rId34" Type="http://schemas.openxmlformats.org/officeDocument/2006/relationships/font" Target="fonts/Lato-boldItalic.fntdata"/><Relationship Id="rId15" Type="http://schemas.openxmlformats.org/officeDocument/2006/relationships/slide" Target="slides/slide9.xml"/><Relationship Id="rId37" Type="http://schemas.openxmlformats.org/officeDocument/2006/relationships/font" Target="fonts/Urbanist-italic.fntdata"/><Relationship Id="rId14" Type="http://schemas.openxmlformats.org/officeDocument/2006/relationships/slide" Target="slides/slide8.xml"/><Relationship Id="rId36" Type="http://schemas.openxmlformats.org/officeDocument/2006/relationships/font" Target="fonts/Urbanist-bold.fntdata"/><Relationship Id="rId17" Type="http://schemas.openxmlformats.org/officeDocument/2006/relationships/slide" Target="slides/slide11.xml"/><Relationship Id="rId39" Type="http://schemas.openxmlformats.org/officeDocument/2006/relationships/font" Target="fonts/JetBrainsMono-regular.fntdata"/><Relationship Id="rId16" Type="http://schemas.openxmlformats.org/officeDocument/2006/relationships/slide" Target="slides/slide10.xml"/><Relationship Id="rId38" Type="http://schemas.openxmlformats.org/officeDocument/2006/relationships/font" Target="fonts/Urbanist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5c9612f4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e5c9612f41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5c9612f4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e5c9612f41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5c9612f41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e5c9612f41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5c9612f4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e5c9612f41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5c9612f41_0_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e5c9612f41_0_6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e5c9612f41_0_7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e5c9612f41_0_7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e5c9612f41_0_8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e5c9612f41_0_8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e5c9612f41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e5c9612f41_0_8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e5c9612f41_0_8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e5c9612f41_0_8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e5c9612f41_0_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e5c9612f41_0_8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e5c9612f41_0_8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e5c9612f41_0_8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e5c9612f41_0_9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3e5c9612f41_0_9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9" Type="http://schemas.openxmlformats.org/officeDocument/2006/relationships/image" Target="../media/image12.png"/><Relationship Id="rId5" Type="http://schemas.openxmlformats.org/officeDocument/2006/relationships/image" Target="../media/image21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1.png"/><Relationship Id="rId4" Type="http://schemas.openxmlformats.org/officeDocument/2006/relationships/image" Target="../media/image14.png"/><Relationship Id="rId11" Type="http://schemas.openxmlformats.org/officeDocument/2006/relationships/image" Target="../media/image28.png"/><Relationship Id="rId10" Type="http://schemas.openxmlformats.org/officeDocument/2006/relationships/image" Target="../media/image20.png"/><Relationship Id="rId9" Type="http://schemas.openxmlformats.org/officeDocument/2006/relationships/image" Target="../media/image51.png"/><Relationship Id="rId5" Type="http://schemas.openxmlformats.org/officeDocument/2006/relationships/image" Target="../media/image13.png"/><Relationship Id="rId6" Type="http://schemas.openxmlformats.org/officeDocument/2006/relationships/image" Target="../media/image24.png"/><Relationship Id="rId7" Type="http://schemas.openxmlformats.org/officeDocument/2006/relationships/image" Target="../media/image17.png"/><Relationship Id="rId8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22.png"/><Relationship Id="rId5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.png"/><Relationship Id="rId4" Type="http://schemas.openxmlformats.org/officeDocument/2006/relationships/image" Target="../media/image32.png"/><Relationship Id="rId11" Type="http://schemas.openxmlformats.org/officeDocument/2006/relationships/image" Target="../media/image41.png"/><Relationship Id="rId10" Type="http://schemas.openxmlformats.org/officeDocument/2006/relationships/image" Target="../media/image34.png"/><Relationship Id="rId12" Type="http://schemas.openxmlformats.org/officeDocument/2006/relationships/image" Target="../media/image40.png"/><Relationship Id="rId9" Type="http://schemas.openxmlformats.org/officeDocument/2006/relationships/image" Target="../media/image39.png"/><Relationship Id="rId5" Type="http://schemas.openxmlformats.org/officeDocument/2006/relationships/image" Target="../media/image33.png"/><Relationship Id="rId6" Type="http://schemas.openxmlformats.org/officeDocument/2006/relationships/image" Target="../media/image30.png"/><Relationship Id="rId7" Type="http://schemas.openxmlformats.org/officeDocument/2006/relationships/image" Target="../media/image29.png"/><Relationship Id="rId8" Type="http://schemas.openxmlformats.org/officeDocument/2006/relationships/image" Target="../media/image4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Relationship Id="rId4" Type="http://schemas.openxmlformats.org/officeDocument/2006/relationships/image" Target="../media/image5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png"/><Relationship Id="rId4" Type="http://schemas.openxmlformats.org/officeDocument/2006/relationships/image" Target="../media/image4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Relationship Id="rId4" Type="http://schemas.openxmlformats.org/officeDocument/2006/relationships/image" Target="../media/image5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Relationship Id="rId4" Type="http://schemas.openxmlformats.org/officeDocument/2006/relationships/image" Target="../media/image4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png"/><Relationship Id="rId4" Type="http://schemas.openxmlformats.org/officeDocument/2006/relationships/image" Target="../media/image3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53.png"/><Relationship Id="rId9" Type="http://schemas.openxmlformats.org/officeDocument/2006/relationships/image" Target="../media/image35.png"/><Relationship Id="rId5" Type="http://schemas.openxmlformats.org/officeDocument/2006/relationships/image" Target="../media/image21.png"/><Relationship Id="rId6" Type="http://schemas.openxmlformats.org/officeDocument/2006/relationships/image" Target="../media/image4.png"/><Relationship Id="rId7" Type="http://schemas.openxmlformats.org/officeDocument/2006/relationships/image" Target="../media/image49.png"/><Relationship Id="rId8" Type="http://schemas.openxmlformats.org/officeDocument/2006/relationships/image" Target="../media/image4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8.png"/><Relationship Id="rId4" Type="http://schemas.openxmlformats.org/officeDocument/2006/relationships/image" Target="../media/image36.png"/><Relationship Id="rId5" Type="http://schemas.openxmlformats.org/officeDocument/2006/relationships/image" Target="../media/image44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Relationship Id="rId4" Type="http://schemas.openxmlformats.org/officeDocument/2006/relationships/image" Target="../media/image5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05112" y="162877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40769" y="2676525"/>
            <a:ext cx="5490686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58A6FF"/>
                </a:solidFill>
                <a:latin typeface="Urbanist"/>
                <a:ea typeface="Urbanist"/>
                <a:cs typeface="Urbanist"/>
                <a:sym typeface="Urbanist"/>
              </a:rPr>
              <a:t>LOVE</a:t>
            </a:r>
            <a:r>
              <a:rPr b="1" i="0" lang="en-US" sz="600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CODE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705225"/>
            <a:ext cx="522922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Defensa de Proyecto Final • 1º DAW • 2025-26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25357" y="4268972"/>
            <a:ext cx="4921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8A6FF"/>
                </a:solidFill>
                <a:latin typeface="Urbanist"/>
                <a:ea typeface="Urbanist"/>
                <a:cs typeface="Urbanist"/>
                <a:sym typeface="Urbanist"/>
              </a:rPr>
              <a:t>Pa</a:t>
            </a:r>
            <a:r>
              <a:rPr b="1" lang="en-US" sz="1650">
                <a:solidFill>
                  <a:srgbClr val="58A6FF"/>
                </a:solidFill>
                <a:latin typeface="Urbanist"/>
                <a:ea typeface="Urbanist"/>
                <a:cs typeface="Urbanist"/>
                <a:sym typeface="Urbanist"/>
              </a:rPr>
              <a:t>blo Pedrón López</a:t>
            </a:r>
            <a:endParaRPr/>
          </a:p>
        </p:txBody>
      </p:sp>
      <p:pic>
        <p:nvPicPr>
          <p:cNvPr id="89" name="Google Shape;89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0725" y="2492175"/>
            <a:ext cx="5390741" cy="111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QUE ES LOVECODE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71500" y="571500"/>
            <a:ext cx="47700" cy="4857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15952" y="1306525"/>
            <a:ext cx="8960099" cy="47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QUE ES LOVECODE</a:t>
            </a:r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571500" y="571500"/>
            <a:ext cx="47700" cy="4857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8264" y="1227750"/>
            <a:ext cx="9175474" cy="490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QUE ES LOVECODE</a:t>
            </a:r>
            <a:endParaRPr/>
          </a:p>
        </p:txBody>
      </p:sp>
      <p:sp>
        <p:nvSpPr>
          <p:cNvPr id="112" name="Google Shape;112;p16"/>
          <p:cNvSpPr/>
          <p:nvPr/>
        </p:nvSpPr>
        <p:spPr>
          <a:xfrm>
            <a:off x="571500" y="571500"/>
            <a:ext cx="47700" cy="4857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4063" y="1217501"/>
            <a:ext cx="9203874" cy="493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7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QUE ES LOVECODE</a:t>
            </a:r>
            <a:endParaRPr/>
          </a:p>
        </p:txBody>
      </p:sp>
      <p:sp>
        <p:nvSpPr>
          <p:cNvPr id="120" name="Google Shape;120;p17"/>
          <p:cNvSpPr/>
          <p:nvPr/>
        </p:nvSpPr>
        <p:spPr>
          <a:xfrm>
            <a:off x="571500" y="571500"/>
            <a:ext cx="47700" cy="4857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9213" y="1184175"/>
            <a:ext cx="9553574" cy="4852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24025"/>
            <a:ext cx="3492549" cy="2975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724025"/>
            <a:ext cx="3492549" cy="2975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724025"/>
            <a:ext cx="3492549" cy="2975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46600" y="2800612"/>
            <a:ext cx="942355" cy="8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8"/>
          <p:cNvSpPr txBox="1"/>
          <p:nvPr/>
        </p:nvSpPr>
        <p:spPr>
          <a:xfrm>
            <a:off x="1209725" y="4060875"/>
            <a:ext cx="221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FRONTEND</a:t>
            </a:r>
            <a:endParaRPr sz="2600"/>
          </a:p>
        </p:txBody>
      </p:sp>
      <p:pic>
        <p:nvPicPr>
          <p:cNvPr descr="image.png" id="132" name="Google Shape;132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566000" y="2800604"/>
            <a:ext cx="1060150" cy="841396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 txBox="1"/>
          <p:nvPr/>
        </p:nvSpPr>
        <p:spPr>
          <a:xfrm>
            <a:off x="4744863" y="4060875"/>
            <a:ext cx="270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BACKEND</a:t>
            </a:r>
            <a:endParaRPr sz="2600"/>
          </a:p>
        </p:txBody>
      </p:sp>
      <p:pic>
        <p:nvPicPr>
          <p:cNvPr descr="image.png" id="134" name="Google Shape;134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02188" y="2849125"/>
            <a:ext cx="744375" cy="74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8"/>
          <p:cNvSpPr txBox="1"/>
          <p:nvPr/>
        </p:nvSpPr>
        <p:spPr>
          <a:xfrm>
            <a:off x="8523179" y="4060875"/>
            <a:ext cx="270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BBDD (DEBIAN)</a:t>
            </a:r>
            <a:endParaRPr sz="3000"/>
          </a:p>
        </p:txBody>
      </p:sp>
      <p:sp>
        <p:nvSpPr>
          <p:cNvPr id="136" name="Google Shape;136;p18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Arquitectura del Sistema</a:t>
            </a:r>
            <a:endParaRPr/>
          </a:p>
        </p:txBody>
      </p:sp>
      <p:sp>
        <p:nvSpPr>
          <p:cNvPr id="137" name="Google Shape;137;p18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9"/>
          <p:cNvSpPr txBox="1"/>
          <p:nvPr/>
        </p:nvSpPr>
        <p:spPr>
          <a:xfrm>
            <a:off x="914400" y="2566927"/>
            <a:ext cx="381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4" name="Google Shape;144;p19"/>
          <p:cNvSpPr txBox="1"/>
          <p:nvPr/>
        </p:nvSpPr>
        <p:spPr>
          <a:xfrm>
            <a:off x="914400" y="2860268"/>
            <a:ext cx="381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5" name="Google Shape;145;p19"/>
          <p:cNvSpPr txBox="1"/>
          <p:nvPr/>
        </p:nvSpPr>
        <p:spPr>
          <a:xfrm>
            <a:off x="914400" y="3153608"/>
            <a:ext cx="381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6" name="Google Shape;146;p19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DIAGRAMA E/R</a:t>
            </a:r>
            <a:endParaRPr/>
          </a:p>
        </p:txBody>
      </p:sp>
      <p:sp>
        <p:nvSpPr>
          <p:cNvPr id="147" name="Google Shape;147;p19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76425" y="1144450"/>
            <a:ext cx="8439150" cy="521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70310"/>
            <a:ext cx="5405437" cy="21389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5062" y="1770310"/>
            <a:ext cx="5405437" cy="21389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47393"/>
            <a:ext cx="5405437" cy="21391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15062" y="4147393"/>
            <a:ext cx="5405437" cy="21391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206558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0"/>
          <p:cNvSpPr txBox="1"/>
          <p:nvPr/>
        </p:nvSpPr>
        <p:spPr>
          <a:xfrm>
            <a:off x="1362075" y="2008435"/>
            <a:ext cx="4535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0F6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UNIQUE KEY</a:t>
            </a:r>
            <a:endParaRPr/>
          </a:p>
        </p:txBody>
      </p:sp>
      <p:sp>
        <p:nvSpPr>
          <p:cNvPr id="160" name="Google Shape;160;p20"/>
          <p:cNvSpPr txBox="1"/>
          <p:nvPr/>
        </p:nvSpPr>
        <p:spPr>
          <a:xfrm>
            <a:off x="1362075" y="2360860"/>
            <a:ext cx="4319700" cy="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Garantiza la </a:t>
            </a:r>
            <a:r>
              <a:rPr b="1" i="0" lang="en-US" sz="135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unicidad absoluta</a:t>
            </a:r>
            <a:r>
              <a:rPr b="0" i="0" lang="en-US" sz="135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en campos clave como </a:t>
            </a:r>
            <a:r>
              <a:rPr lang="en-US" sz="1350">
                <a:solidFill>
                  <a:srgbClr val="FF0000"/>
                </a:solidFill>
                <a:latin typeface="Urbanist"/>
                <a:ea typeface="Urbanist"/>
                <a:cs typeface="Urbanist"/>
                <a:sym typeface="Urbanist"/>
              </a:rPr>
              <a:t>email</a:t>
            </a:r>
            <a:r>
              <a:rPr lang="en-US" sz="1350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0" i="0" lang="en-US" sz="135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y </a:t>
            </a:r>
            <a:r>
              <a:rPr b="0" i="0" lang="en-US" sz="1350" u="none" cap="none" strike="noStrike">
                <a:solidFill>
                  <a:srgbClr val="FF0000"/>
                </a:solidFill>
                <a:latin typeface="Urbanist"/>
                <a:ea typeface="Urbanist"/>
                <a:cs typeface="Urbanist"/>
                <a:sym typeface="Urbanist"/>
              </a:rPr>
              <a:t>tecnologías</a:t>
            </a:r>
            <a:r>
              <a:rPr b="0" i="0" lang="en-US" sz="135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de forma nativa, bloqueando registros duplicados antes de llegar al backend.</a:t>
            </a:r>
            <a:endParaRPr/>
          </a:p>
        </p:txBody>
      </p:sp>
      <p:pic>
        <p:nvPicPr>
          <p:cNvPr descr="image.png" id="161" name="Google Shape;161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10337" y="2065585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0"/>
          <p:cNvSpPr txBox="1"/>
          <p:nvPr/>
        </p:nvSpPr>
        <p:spPr>
          <a:xfrm>
            <a:off x="6967537" y="2008435"/>
            <a:ext cx="4575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0F6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ON DELETE CASCADE</a:t>
            </a:r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6967537" y="2360860"/>
            <a:ext cx="4357800" cy="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Mantiene la </a:t>
            </a:r>
            <a:r>
              <a:rPr b="1" i="0" lang="en-US" sz="135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integridad referencial</a:t>
            </a:r>
            <a:r>
              <a:rPr b="0" i="0" lang="en-US" sz="135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automatizada en interacciones (</a:t>
            </a:r>
            <a:r>
              <a:rPr b="0" i="0" lang="en-US" sz="1350" u="none" cap="none" strike="noStrike">
                <a:solidFill>
                  <a:srgbClr val="FF0000"/>
                </a:solidFill>
                <a:latin typeface="Urbanist"/>
                <a:ea typeface="Urbanist"/>
                <a:cs typeface="Urbanist"/>
                <a:sym typeface="Urbanist"/>
              </a:rPr>
              <a:t>Likes</a:t>
            </a:r>
            <a:r>
              <a:rPr b="0" i="0" lang="en-US" sz="135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y </a:t>
            </a:r>
            <a:r>
              <a:rPr b="0" i="0" lang="en-US" sz="1350" u="none" cap="none" strike="noStrike">
                <a:solidFill>
                  <a:srgbClr val="FF0000"/>
                </a:solidFill>
                <a:latin typeface="Urbanist"/>
                <a:ea typeface="Urbanist"/>
                <a:cs typeface="Urbanist"/>
                <a:sym typeface="Urbanist"/>
              </a:rPr>
              <a:t>Matches</a:t>
            </a:r>
            <a:r>
              <a:rPr b="0" i="0" lang="en-US" sz="135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). Si un usuario es eliminado, sus relaciones se purgan limpiamente en cascada.</a:t>
            </a:r>
            <a:endParaRPr/>
          </a:p>
        </p:txBody>
      </p:sp>
      <p:pic>
        <p:nvPicPr>
          <p:cNvPr descr="image.png" id="164" name="Google Shape;164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6775" y="4442668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0"/>
          <p:cNvSpPr txBox="1"/>
          <p:nvPr/>
        </p:nvSpPr>
        <p:spPr>
          <a:xfrm>
            <a:off x="1438275" y="4385518"/>
            <a:ext cx="4455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0F6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ON DELETE SET NULL</a:t>
            </a:r>
            <a:endParaRPr/>
          </a:p>
        </p:txBody>
      </p:sp>
      <p:sp>
        <p:nvSpPr>
          <p:cNvPr id="166" name="Google Shape;166;p20"/>
          <p:cNvSpPr txBox="1"/>
          <p:nvPr/>
        </p:nvSpPr>
        <p:spPr>
          <a:xfrm>
            <a:off x="1438275" y="4737943"/>
            <a:ext cx="4243500" cy="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Estrategia de </a:t>
            </a:r>
            <a:r>
              <a:rPr b="1" i="0" lang="en-US" sz="135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preservación estadística</a:t>
            </a:r>
            <a:r>
              <a:rPr b="0" i="0" lang="en-US" sz="135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aplicada a </a:t>
            </a:r>
            <a:r>
              <a:rPr lang="en-US" sz="1350">
                <a:solidFill>
                  <a:srgbClr val="FF0000"/>
                </a:solidFill>
                <a:latin typeface="Urbanist"/>
                <a:ea typeface="Urbanist"/>
                <a:cs typeface="Urbanist"/>
                <a:sym typeface="Urbanist"/>
              </a:rPr>
              <a:t>Historial_Logs</a:t>
            </a:r>
            <a:r>
              <a:rPr b="0" i="0" lang="en-US" sz="135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Si una cuenta se elimina, el histórico de inicios de sesión se conserva asignando </a:t>
            </a:r>
            <a:r>
              <a:rPr b="0" i="0" lang="en-US" sz="1350" u="none" cap="none" strike="noStrike">
                <a:solidFill>
                  <a:srgbClr val="FF0000"/>
                </a:solidFill>
                <a:latin typeface="Urbanist"/>
                <a:ea typeface="Urbanist"/>
                <a:cs typeface="Urbanist"/>
                <a:sym typeface="Urbanist"/>
              </a:rPr>
              <a:t>NULL</a:t>
            </a:r>
            <a:r>
              <a:rPr b="0" i="0" lang="en-US" sz="135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al email.</a:t>
            </a:r>
            <a:endParaRPr/>
          </a:p>
        </p:txBody>
      </p:sp>
      <p:pic>
        <p:nvPicPr>
          <p:cNvPr descr="image.png" id="167" name="Google Shape;167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10337" y="4442668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0"/>
          <p:cNvSpPr txBox="1"/>
          <p:nvPr/>
        </p:nvSpPr>
        <p:spPr>
          <a:xfrm>
            <a:off x="7043737" y="4385518"/>
            <a:ext cx="4495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0F6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RESTRECCIÓN ENUM</a:t>
            </a:r>
            <a:endParaRPr/>
          </a:p>
        </p:txBody>
      </p:sp>
      <p:sp>
        <p:nvSpPr>
          <p:cNvPr id="169" name="Google Shape;169;p20"/>
          <p:cNvSpPr txBox="1"/>
          <p:nvPr/>
        </p:nvSpPr>
        <p:spPr>
          <a:xfrm>
            <a:off x="7043737" y="4737943"/>
            <a:ext cx="4281600" cy="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Establece un </a:t>
            </a:r>
            <a:r>
              <a:rPr b="1" i="0" lang="en-US" sz="135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dominio cerrado y rígido</a:t>
            </a:r>
            <a:r>
              <a:rPr b="0" i="0" lang="en-US" sz="135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en el resultado de auditorías. El campo solo acepta de manera nativa los valores predefinidos </a:t>
            </a:r>
            <a:r>
              <a:rPr lang="en-US" sz="1350">
                <a:solidFill>
                  <a:srgbClr val="FF0000"/>
                </a:solidFill>
                <a:latin typeface="Urbanist"/>
                <a:ea typeface="Urbanist"/>
                <a:cs typeface="Urbanist"/>
                <a:sym typeface="Urbanist"/>
              </a:rPr>
              <a:t>EXITO</a:t>
            </a:r>
            <a:r>
              <a:rPr b="0" i="0" lang="en-US" sz="1350" u="none" cap="none" strike="noStrike">
                <a:solidFill>
                  <a:srgbClr val="FF000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0" i="0" lang="en-US" sz="135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o </a:t>
            </a:r>
            <a:r>
              <a:rPr b="0" i="0" lang="en-US" sz="1350" u="none" cap="none" strike="noStrike">
                <a:solidFill>
                  <a:srgbClr val="FF0000"/>
                </a:solidFill>
                <a:latin typeface="Urbanist"/>
                <a:ea typeface="Urbanist"/>
                <a:cs typeface="Urbanist"/>
                <a:sym typeface="Urbanist"/>
              </a:rPr>
              <a:t>FALLO </a:t>
            </a:r>
            <a:r>
              <a:rPr b="0" i="0" lang="en-US" sz="135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762000" y="903535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ELEMENTOS DESTACADOS AL CREAR BBDD</a:t>
            </a:r>
            <a:endParaRPr/>
          </a:p>
        </p:txBody>
      </p:sp>
      <p:sp>
        <p:nvSpPr>
          <p:cNvPr id="171" name="Google Shape;171;p20"/>
          <p:cNvSpPr/>
          <p:nvPr/>
        </p:nvSpPr>
        <p:spPr>
          <a:xfrm>
            <a:off x="571500" y="903535"/>
            <a:ext cx="47700" cy="4857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43025"/>
            <a:ext cx="5334000" cy="494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1"/>
          <p:cNvSpPr txBox="1"/>
          <p:nvPr/>
        </p:nvSpPr>
        <p:spPr>
          <a:xfrm>
            <a:off x="866775" y="1638300"/>
            <a:ext cx="498062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8A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Routines (SP)</a:t>
            </a:r>
            <a:endParaRPr/>
          </a:p>
        </p:txBody>
      </p:sp>
      <p:sp>
        <p:nvSpPr>
          <p:cNvPr id="179" name="Google Shape;179;p21"/>
          <p:cNvSpPr txBox="1"/>
          <p:nvPr/>
        </p:nvSpPr>
        <p:spPr>
          <a:xfrm>
            <a:off x="8382000" y="3664412"/>
            <a:ext cx="38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6629400" y="2947927"/>
            <a:ext cx="381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6629400" y="3241268"/>
            <a:ext cx="381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PROCEDIMIENTOS ALMACENADOS</a:t>
            </a:r>
            <a:endParaRPr/>
          </a:p>
        </p:txBody>
      </p:sp>
      <p:sp>
        <p:nvSpPr>
          <p:cNvPr id="183" name="Google Shape;183;p21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67500" y="1346475"/>
            <a:ext cx="4980625" cy="49636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43025"/>
            <a:ext cx="5381625" cy="30040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343025"/>
            <a:ext cx="5381625" cy="300409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2"/>
          <p:cNvSpPr txBox="1"/>
          <p:nvPr/>
        </p:nvSpPr>
        <p:spPr>
          <a:xfrm>
            <a:off x="571500" y="4728120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La base de datos </a:t>
            </a:r>
            <a:r>
              <a:rPr b="1" i="0" lang="en-US" sz="1650" u="none" cap="none" strike="noStrike">
                <a:solidFill>
                  <a:srgbClr val="58A6FF"/>
                </a:solidFill>
                <a:latin typeface="Urbanist"/>
                <a:ea typeface="Urbanist"/>
                <a:cs typeface="Urbanist"/>
                <a:sym typeface="Urbanist"/>
              </a:rPr>
              <a:t>toma decisiones</a:t>
            </a:r>
            <a:r>
              <a:rPr b="0" i="0" lang="en-US" sz="165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por sí misma.</a:t>
            </a:r>
            <a:endParaRPr/>
          </a:p>
        </p:txBody>
      </p:sp>
      <p:pic>
        <p:nvPicPr>
          <p:cNvPr descr="image.png" id="193" name="Google Shape;19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52762" y="1666875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2"/>
          <p:cNvSpPr txBox="1"/>
          <p:nvPr/>
        </p:nvSpPr>
        <p:spPr>
          <a:xfrm>
            <a:off x="2192178" y="2333625"/>
            <a:ext cx="214026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tr_after_insert_like</a:t>
            </a:r>
            <a:endParaRPr/>
          </a:p>
        </p:txBody>
      </p:sp>
      <p:sp>
        <p:nvSpPr>
          <p:cNvPr id="195" name="Google Shape;195;p22"/>
          <p:cNvSpPr txBox="1"/>
          <p:nvPr/>
        </p:nvSpPr>
        <p:spPr>
          <a:xfrm>
            <a:off x="866775" y="2962275"/>
            <a:ext cx="4791075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Comprueba reciprocidad y tecnologías comunes tras cada Like. Si hay coincidencia, inserta el </a:t>
            </a:r>
            <a:r>
              <a:rPr b="1" i="0" lang="en-US" sz="165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Match</a:t>
            </a:r>
            <a:r>
              <a:rPr b="0" i="0" lang="en-US" sz="165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automáticamente.</a:t>
            </a:r>
            <a:endParaRPr/>
          </a:p>
        </p:txBody>
      </p:sp>
      <p:pic>
        <p:nvPicPr>
          <p:cNvPr descr="image.png" id="196" name="Google Shape;196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20137" y="1666875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2"/>
          <p:cNvSpPr txBox="1"/>
          <p:nvPr/>
        </p:nvSpPr>
        <p:spPr>
          <a:xfrm>
            <a:off x="7814548" y="2333625"/>
            <a:ext cx="223027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tr_after_delete_like</a:t>
            </a:r>
            <a:endParaRPr/>
          </a:p>
        </p:txBody>
      </p:sp>
      <p:sp>
        <p:nvSpPr>
          <p:cNvPr id="198" name="Google Shape;198;p22"/>
          <p:cNvSpPr txBox="1"/>
          <p:nvPr/>
        </p:nvSpPr>
        <p:spPr>
          <a:xfrm>
            <a:off x="6534150" y="2962275"/>
            <a:ext cx="479107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Mantiene la integridad eliminando el </a:t>
            </a:r>
            <a:r>
              <a:rPr b="1" i="0" lang="en-US" sz="165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Match</a:t>
            </a:r>
            <a:r>
              <a:rPr b="0" i="0" lang="en-US" sz="165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asociado si un usuario deshace su interés.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Automatización mediante Triggers</a:t>
            </a:r>
            <a:endParaRPr/>
          </a:p>
        </p:txBody>
      </p:sp>
      <p:sp>
        <p:nvSpPr>
          <p:cNvPr id="200" name="Google Shape;200;p22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54051"/>
            <a:ext cx="3524250" cy="27009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654051"/>
            <a:ext cx="3524250" cy="27009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0" y="2654051"/>
            <a:ext cx="3524250" cy="27009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00250" y="2949326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3"/>
          <p:cNvSpPr txBox="1"/>
          <p:nvPr/>
        </p:nvSpPr>
        <p:spPr>
          <a:xfrm>
            <a:off x="1578530" y="3806576"/>
            <a:ext cx="1510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1. Manual (GUI)</a:t>
            </a:r>
            <a:endParaRPr/>
          </a:p>
        </p:txBody>
      </p:sp>
      <p:sp>
        <p:nvSpPr>
          <p:cNvPr id="211" name="Google Shape;211;p23"/>
          <p:cNvSpPr txBox="1"/>
          <p:nvPr/>
        </p:nvSpPr>
        <p:spPr>
          <a:xfrm>
            <a:off x="866775" y="4206626"/>
            <a:ext cx="29337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Gestionado visualmente desde </a:t>
            </a:r>
            <a:r>
              <a:rPr b="1" i="0" lang="en-US" sz="13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MySQL Workbench</a:t>
            </a:r>
            <a:r>
              <a:rPr b="0" i="0" lang="en-US" sz="13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. </a:t>
            </a:r>
            <a:endParaRPr sz="1300"/>
          </a:p>
        </p:txBody>
      </p:sp>
      <p:pic>
        <p:nvPicPr>
          <p:cNvPr descr="image.png" id="212" name="Google Shape;212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62625" y="2949326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3"/>
          <p:cNvSpPr txBox="1"/>
          <p:nvPr/>
        </p:nvSpPr>
        <p:spPr>
          <a:xfrm>
            <a:off x="4995862" y="3806576"/>
            <a:ext cx="2200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2. Terminal interactivo</a:t>
            </a:r>
            <a:endParaRPr/>
          </a:p>
        </p:txBody>
      </p:sp>
      <p:sp>
        <p:nvSpPr>
          <p:cNvPr id="214" name="Google Shape;214;p23"/>
          <p:cNvSpPr txBox="1"/>
          <p:nvPr/>
        </p:nvSpPr>
        <p:spPr>
          <a:xfrm>
            <a:off x="4629150" y="4206626"/>
            <a:ext cx="29337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Volcado lógico mediante utilidades nativas en consola (mariadb-dump). </a:t>
            </a:r>
            <a:endParaRPr sz="1300"/>
          </a:p>
        </p:txBody>
      </p:sp>
      <p:pic>
        <p:nvPicPr>
          <p:cNvPr descr="image.png" id="215" name="Google Shape;215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25000" y="2949326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3"/>
          <p:cNvSpPr txBox="1"/>
          <p:nvPr/>
        </p:nvSpPr>
        <p:spPr>
          <a:xfrm>
            <a:off x="8713231" y="3806576"/>
            <a:ext cx="2290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3. Script Automatizado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8391525" y="4206626"/>
            <a:ext cx="2933700" cy="10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Orquestado mediante un script en </a:t>
            </a:r>
            <a:r>
              <a:rPr b="1" i="0" lang="en-US" sz="13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PowerShell</a:t>
            </a:r>
            <a:r>
              <a:rPr b="0" i="0" lang="en-US" sz="13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que conecta via SSH a Debian, extrae los datos y programa la tarea de forma diaria en Windows.</a:t>
            </a:r>
            <a:endParaRPr sz="1300"/>
          </a:p>
        </p:txBody>
      </p:sp>
      <p:pic>
        <p:nvPicPr>
          <p:cNvPr descr="image.png" id="218" name="Google Shape;218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181225" y="3130301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24550" y="3130301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705975" y="3130301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3"/>
          <p:cNvSpPr txBox="1"/>
          <p:nvPr/>
        </p:nvSpPr>
        <p:spPr>
          <a:xfrm>
            <a:off x="762000" y="903535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Los 3 Tipos de Backup Implementados</a:t>
            </a:r>
            <a:endParaRPr/>
          </a:p>
        </p:txBody>
      </p:sp>
      <p:sp>
        <p:nvSpPr>
          <p:cNvPr id="222" name="Google Shape;222;p23"/>
          <p:cNvSpPr/>
          <p:nvPr/>
        </p:nvSpPr>
        <p:spPr>
          <a:xfrm>
            <a:off x="571500" y="903535"/>
            <a:ext cx="47700" cy="4857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4"/>
          <p:cNvSpPr txBox="1"/>
          <p:nvPr/>
        </p:nvSpPr>
        <p:spPr>
          <a:xfrm>
            <a:off x="762000" y="903535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USUARIOS</a:t>
            </a:r>
            <a:endParaRPr/>
          </a:p>
        </p:txBody>
      </p:sp>
      <p:sp>
        <p:nvSpPr>
          <p:cNvPr id="229" name="Google Shape;229;p24"/>
          <p:cNvSpPr/>
          <p:nvPr/>
        </p:nvSpPr>
        <p:spPr>
          <a:xfrm>
            <a:off x="571500" y="903535"/>
            <a:ext cx="47700" cy="4857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0" name="Google Shape;23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463" y="2906726"/>
            <a:ext cx="11883074" cy="157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5"/>
          <p:cNvSpPr txBox="1"/>
          <p:nvPr/>
        </p:nvSpPr>
        <p:spPr>
          <a:xfrm>
            <a:off x="762000" y="903535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CONEXIONADO JDBC</a:t>
            </a:r>
            <a:endParaRPr/>
          </a:p>
        </p:txBody>
      </p:sp>
      <p:sp>
        <p:nvSpPr>
          <p:cNvPr id="237" name="Google Shape;237;p25"/>
          <p:cNvSpPr/>
          <p:nvPr/>
        </p:nvSpPr>
        <p:spPr>
          <a:xfrm>
            <a:off x="571500" y="903535"/>
            <a:ext cx="47700" cy="4857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8" name="Google Shape;23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74300" y="1389225"/>
            <a:ext cx="9043376" cy="484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3" name="Google Shape;24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6"/>
          <p:cNvSpPr txBox="1"/>
          <p:nvPr/>
        </p:nvSpPr>
        <p:spPr>
          <a:xfrm>
            <a:off x="762000" y="903535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MAVEN</a:t>
            </a:r>
            <a:endParaRPr/>
          </a:p>
        </p:txBody>
      </p:sp>
      <p:sp>
        <p:nvSpPr>
          <p:cNvPr id="245" name="Google Shape;245;p26"/>
          <p:cNvSpPr/>
          <p:nvPr/>
        </p:nvSpPr>
        <p:spPr>
          <a:xfrm>
            <a:off x="571500" y="903535"/>
            <a:ext cx="47700" cy="4857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6" name="Google Shape;24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525" y="1552050"/>
            <a:ext cx="11330948" cy="420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1" name="Google Shape;25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 txBox="1"/>
          <p:nvPr/>
        </p:nvSpPr>
        <p:spPr>
          <a:xfrm>
            <a:off x="762000" y="903535"/>
            <a:ext cx="1140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/>
          <p:nvPr/>
        </p:nvSpPr>
        <p:spPr>
          <a:xfrm>
            <a:off x="571500" y="903535"/>
            <a:ext cx="47700" cy="4857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4" name="Google Shape;254;p27"/>
          <p:cNvGraphicFramePr/>
          <p:nvPr/>
        </p:nvGraphicFramePr>
        <p:xfrm>
          <a:off x="5478463" y="1388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{CBD28C0F-23C6-4881-B677-7C6E6D96A54B}</a:tableStyleId>
              </a:tblPr>
              <a:tblGrid>
                <a:gridCol w="1600200"/>
                <a:gridCol w="1962150"/>
                <a:gridCol w="2371725"/>
              </a:tblGrid>
              <a:tr h="25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Controlador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50800" marB="5080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Método + Ruta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50800" marB="5080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Operación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50800" marB="5080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4057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AuthController</a:t>
                      </a:r>
                      <a:endParaRPr sz="900"/>
                    </a:p>
                  </a:txBody>
                  <a:tcPr marT="50800" marB="5080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POST /api/auth/registro</a:t>
                      </a:r>
                      <a:endParaRPr sz="900"/>
                    </a:p>
                  </a:txBody>
                  <a:tcPr marT="50800" marB="5080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Registra un nuevo usuario: hashea la contraseña con BCrypt, llama a sp_registrar_usuario y asigna tecnologías.</a:t>
                      </a:r>
                      <a:endParaRPr sz="900"/>
                    </a:p>
                  </a:txBody>
                  <a:tcPr marT="50800" marB="5080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AuthController</a:t>
                      </a:r>
                      <a:endParaRPr sz="900"/>
                    </a:p>
                  </a:txBody>
                  <a:tcPr marT="50800" marB="5080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POST /api/auth/login</a:t>
                      </a:r>
                      <a:endParaRPr sz="900"/>
                    </a:p>
                  </a:txBody>
                  <a:tcPr marT="50800" marB="5080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Autentica al usuario: busca por email, compara hash BCrypt y registra el intento en Historial_Logs.</a:t>
                      </a:r>
                      <a:endParaRPr sz="900"/>
                    </a:p>
                  </a:txBody>
                  <a:tcPr marT="50800" marB="5080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UsuarioController</a:t>
                      </a:r>
                      <a:endParaRPr sz="900"/>
                    </a:p>
                  </a:txBody>
                  <a:tcPr marT="50800" marB="5080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GET /api/usuarios</a:t>
                      </a:r>
                      <a:endParaRPr sz="900"/>
                    </a:p>
                  </a:txBody>
                  <a:tcPr marT="50800" marB="5080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Devuelve todos los usuarios activos. Si se pasa ?idUsuario=X, filtra los ya vistos/likeados para el dashboard.</a:t>
                      </a:r>
                      <a:endParaRPr sz="900"/>
                    </a:p>
                  </a:txBody>
                  <a:tcPr marT="50800" marB="5080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LikeController</a:t>
                      </a:r>
                      <a:endParaRPr sz="900"/>
                    </a:p>
                  </a:txBody>
                  <a:tcPr marT="50800" marB="5080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POST /api/likes</a:t>
                      </a:r>
                      <a:endParaRPr sz="900"/>
                    </a:p>
                  </a:txBody>
                  <a:tcPr marT="50800" marB="5080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Registra un like. Tras la inserción, consulta si el trigger generó un match y lo informa en la respuesta.</a:t>
                      </a:r>
                      <a:endParaRPr sz="900"/>
                    </a:p>
                  </a:txBody>
                  <a:tcPr marT="50800" marB="5080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LikeController</a:t>
                      </a:r>
                      <a:endParaRPr sz="900"/>
                    </a:p>
                  </a:txBody>
                  <a:tcPr marT="50800" marB="5080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DELETE /api/likes</a:t>
                      </a:r>
                      <a:endParaRPr sz="900"/>
                    </a:p>
                  </a:txBody>
                  <a:tcPr marT="50800" marB="5080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Elimina un like. El trigger tr_after_delete_like borra el match correspondiente automáticamente.</a:t>
                      </a:r>
                      <a:endParaRPr sz="900"/>
                    </a:p>
                  </a:txBody>
                  <a:tcPr marT="50800" marB="5080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LikeController</a:t>
                      </a:r>
                      <a:endParaRPr sz="900"/>
                    </a:p>
                  </a:txBody>
                  <a:tcPr marT="50800" marB="5080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GET /api/likes/dados/{id}</a:t>
                      </a:r>
                      <a:endParaRPr sz="900"/>
                    </a:p>
                  </a:txBody>
                  <a:tcPr marT="50800" marB="5080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Devuelve la lista de usuarios a los que el usuario ha dado like.</a:t>
                      </a:r>
                      <a:endParaRPr sz="900"/>
                    </a:p>
                  </a:txBody>
                  <a:tcPr marT="50800" marB="5080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MatchController</a:t>
                      </a:r>
                      <a:endParaRPr sz="900"/>
                    </a:p>
                  </a:txBody>
                  <a:tcPr marT="50800" marB="5080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GET /api/matches/{id}</a:t>
                      </a:r>
                      <a:endParaRPr sz="900"/>
                    </a:p>
                  </a:txBody>
                  <a:tcPr marT="50800" marB="5080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Devuelve la lista de matches del usuario logueado.</a:t>
                      </a:r>
                      <a:endParaRPr sz="900"/>
                    </a:p>
                  </a:txBody>
                  <a:tcPr marT="50800" marB="5080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TecnologiaController</a:t>
                      </a:r>
                      <a:endParaRPr sz="900"/>
                    </a:p>
                  </a:txBody>
                  <a:tcPr marT="50800" marB="5080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GET /api/tecnologias</a:t>
                      </a:r>
                      <a:endParaRPr sz="900"/>
                    </a:p>
                  </a:txBody>
                  <a:tcPr marT="50800" marB="5080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Devuelve el catálogo de tecnologías disponibles para el formulario de registro.</a:t>
                      </a:r>
                      <a:endParaRPr sz="900"/>
                    </a:p>
                  </a:txBody>
                  <a:tcPr marT="50800" marB="5080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55" name="Google Shape;25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900" y="1862063"/>
            <a:ext cx="5055389" cy="336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8"/>
          <p:cNvSpPr txBox="1"/>
          <p:nvPr/>
        </p:nvSpPr>
        <p:spPr>
          <a:xfrm>
            <a:off x="762000" y="903535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TESTS UNITARIOS</a:t>
            </a:r>
            <a:endParaRPr/>
          </a:p>
        </p:txBody>
      </p:sp>
      <p:sp>
        <p:nvSpPr>
          <p:cNvPr id="262" name="Google Shape;262;p28"/>
          <p:cNvSpPr/>
          <p:nvPr/>
        </p:nvSpPr>
        <p:spPr>
          <a:xfrm>
            <a:off x="571500" y="903535"/>
            <a:ext cx="47700" cy="4857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3" name="Google Shape;26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81213" y="1771650"/>
            <a:ext cx="8029575" cy="331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8" name="Google Shape;26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43025"/>
            <a:ext cx="3492549" cy="2975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343025"/>
            <a:ext cx="3492549" cy="2975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343025"/>
            <a:ext cx="3492549" cy="2975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04700" y="2114550"/>
            <a:ext cx="808050" cy="1063226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9"/>
          <p:cNvSpPr txBox="1"/>
          <p:nvPr/>
        </p:nvSpPr>
        <p:spPr>
          <a:xfrm>
            <a:off x="1614050" y="3198150"/>
            <a:ext cx="140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HTML5</a:t>
            </a:r>
            <a:endParaRPr sz="2600"/>
          </a:p>
        </p:txBody>
      </p:sp>
      <p:pic>
        <p:nvPicPr>
          <p:cNvPr descr="image.png" id="274" name="Google Shape;274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92051" y="2114551"/>
            <a:ext cx="808050" cy="106322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9"/>
          <p:cNvSpPr txBox="1"/>
          <p:nvPr/>
        </p:nvSpPr>
        <p:spPr>
          <a:xfrm>
            <a:off x="5427064" y="3198150"/>
            <a:ext cx="133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CSS3</a:t>
            </a:r>
            <a:endParaRPr sz="2600"/>
          </a:p>
        </p:txBody>
      </p:sp>
      <p:pic>
        <p:nvPicPr>
          <p:cNvPr descr="image.png" id="276" name="Google Shape;276;p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95926" y="2114550"/>
            <a:ext cx="956885" cy="106322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9"/>
          <p:cNvSpPr txBox="1"/>
          <p:nvPr/>
        </p:nvSpPr>
        <p:spPr>
          <a:xfrm>
            <a:off x="8925924" y="3198150"/>
            <a:ext cx="189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JavaScript</a:t>
            </a:r>
            <a:endParaRPr sz="3000"/>
          </a:p>
        </p:txBody>
      </p:sp>
      <p:sp>
        <p:nvSpPr>
          <p:cNvPr id="278" name="Google Shape;278;p29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Frontend</a:t>
            </a:r>
            <a:endParaRPr/>
          </a:p>
        </p:txBody>
      </p:sp>
      <p:sp>
        <p:nvSpPr>
          <p:cNvPr id="279" name="Google Shape;279;p29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4" name="Google Shape;28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0"/>
          <p:cNvSpPr txBox="1"/>
          <p:nvPr/>
        </p:nvSpPr>
        <p:spPr>
          <a:xfrm>
            <a:off x="571500" y="2376487"/>
            <a:ext cx="5600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7B72"/>
                </a:solidFill>
                <a:latin typeface="Poppins"/>
                <a:ea typeface="Poppins"/>
                <a:cs typeface="Poppins"/>
                <a:sym typeface="Poppins"/>
              </a:rPr>
              <a:t>Comunicación Asíncrona (Fetch API)</a:t>
            </a:r>
            <a:endParaRPr/>
          </a:p>
        </p:txBody>
      </p:sp>
      <p:sp>
        <p:nvSpPr>
          <p:cNvPr id="286" name="Google Shape;286;p30"/>
          <p:cNvSpPr txBox="1"/>
          <p:nvPr/>
        </p:nvSpPr>
        <p:spPr>
          <a:xfrm>
            <a:off x="904875" y="2938462"/>
            <a:ext cx="50007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Estructura Async/Await:</a:t>
            </a:r>
            <a:r>
              <a:rPr b="0" i="0" lang="en-US" sz="135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 Manejo secuencial y limpio de promesas en llamadas al backend, reduciendo la complejidad del código.</a:t>
            </a:r>
            <a:endParaRPr/>
          </a:p>
        </p:txBody>
      </p:sp>
      <p:sp>
        <p:nvSpPr>
          <p:cNvPr id="287" name="Google Shape;287;p30"/>
          <p:cNvSpPr txBox="1"/>
          <p:nvPr/>
        </p:nvSpPr>
        <p:spPr>
          <a:xfrm>
            <a:off x="904875" y="3643312"/>
            <a:ext cx="50007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Resolución de CORS:</a:t>
            </a:r>
            <a:r>
              <a:rPr b="0" i="0" lang="en-US" sz="135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 Intercambio exitoso de datos JSON gracias al mapeo de cabeceras de origen cruzado en las peticiones.</a:t>
            </a:r>
            <a:endParaRPr/>
          </a:p>
        </p:txBody>
      </p:sp>
      <p:sp>
        <p:nvSpPr>
          <p:cNvPr id="288" name="Google Shape;288;p30"/>
          <p:cNvSpPr txBox="1"/>
          <p:nvPr/>
        </p:nvSpPr>
        <p:spPr>
          <a:xfrm>
            <a:off x="904875" y="4348162"/>
            <a:ext cx="5000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Actualización Dinámica:</a:t>
            </a:r>
            <a:r>
              <a:rPr b="0" i="0" lang="en-US" sz="135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 Interceptación inmediata de interacciones (Likes/Matches) para actualizar las vistas sin recargas del navegador.</a:t>
            </a:r>
            <a:endParaRPr/>
          </a:p>
        </p:txBody>
      </p:sp>
      <p:pic>
        <p:nvPicPr>
          <p:cNvPr descr="image.png" id="289" name="Google Shape;28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7180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766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81500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 txBox="1"/>
          <p:nvPr/>
        </p:nvSpPr>
        <p:spPr>
          <a:xfrm>
            <a:off x="762000" y="571500"/>
            <a:ext cx="11401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0F6FC"/>
                </a:solidFill>
                <a:latin typeface="Poppins"/>
                <a:ea typeface="Poppins"/>
                <a:cs typeface="Poppins"/>
                <a:sym typeface="Poppins"/>
              </a:rPr>
              <a:t>Peticiones Asíncronas</a:t>
            </a:r>
            <a:endParaRPr/>
          </a:p>
        </p:txBody>
      </p:sp>
      <p:sp>
        <p:nvSpPr>
          <p:cNvPr id="293" name="Google Shape;293;p30"/>
          <p:cNvSpPr/>
          <p:nvPr/>
        </p:nvSpPr>
        <p:spPr>
          <a:xfrm>
            <a:off x="571500" y="571500"/>
            <a:ext cx="47700" cy="54300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4" name="Google Shape;294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64275" y="1829373"/>
            <a:ext cx="5600699" cy="3894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9" name="Google Shape;29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1"/>
          <p:cNvSpPr txBox="1"/>
          <p:nvPr/>
        </p:nvSpPr>
        <p:spPr>
          <a:xfrm>
            <a:off x="914400" y="3858607"/>
            <a:ext cx="381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01" name="Google Shape;301;p31"/>
          <p:cNvSpPr txBox="1"/>
          <p:nvPr/>
        </p:nvSpPr>
        <p:spPr>
          <a:xfrm>
            <a:off x="914400" y="4151947"/>
            <a:ext cx="381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02" name="Google Shape;302;p31"/>
          <p:cNvSpPr txBox="1"/>
          <p:nvPr/>
        </p:nvSpPr>
        <p:spPr>
          <a:xfrm>
            <a:off x="914400" y="4445287"/>
            <a:ext cx="381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03" name="Google Shape;303;p31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Control de Versiones y Gestión</a:t>
            </a:r>
            <a:endParaRPr/>
          </a:p>
        </p:txBody>
      </p:sp>
      <p:sp>
        <p:nvSpPr>
          <p:cNvPr id="304" name="Google Shape;304;p31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5" name="Google Shape;30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8575" y="1824789"/>
            <a:ext cx="12192002" cy="32084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0" name="Google Shape;31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2"/>
          <p:cNvSpPr txBox="1"/>
          <p:nvPr/>
        </p:nvSpPr>
        <p:spPr>
          <a:xfrm>
            <a:off x="474821" y="1550640"/>
            <a:ext cx="4060507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58A6FF"/>
                </a:solidFill>
                <a:latin typeface="Urbanist"/>
                <a:ea typeface="Urbanist"/>
                <a:cs typeface="Urbanist"/>
                <a:sym typeface="Urbanist"/>
              </a:rPr>
              <a:t>¡Gracias!</a:t>
            </a:r>
            <a:endParaRPr/>
          </a:p>
        </p:txBody>
      </p:sp>
      <p:sp>
        <p:nvSpPr>
          <p:cNvPr id="312" name="Google Shape;312;p32"/>
          <p:cNvSpPr txBox="1"/>
          <p:nvPr/>
        </p:nvSpPr>
        <p:spPr>
          <a:xfrm>
            <a:off x="1219200" y="2788890"/>
            <a:ext cx="25717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58A6FF"/>
                </a:solidFill>
                <a:latin typeface="Urbanist"/>
                <a:ea typeface="Urbanist"/>
                <a:cs typeface="Urbanist"/>
                <a:sym typeface="Urbanist"/>
              </a:rPr>
              <a:t>¿Alguna pregunta?</a:t>
            </a:r>
            <a:endParaRPr/>
          </a:p>
        </p:txBody>
      </p:sp>
      <p:sp>
        <p:nvSpPr>
          <p:cNvPr id="313" name="Google Shape;313;p32"/>
          <p:cNvSpPr txBox="1"/>
          <p:nvPr/>
        </p:nvSpPr>
        <p:spPr>
          <a:xfrm>
            <a:off x="571500" y="4301430"/>
            <a:ext cx="38671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Pablo Pedrón López</a:t>
            </a:r>
            <a:endParaRPr/>
          </a:p>
        </p:txBody>
      </p:sp>
      <p:sp>
        <p:nvSpPr>
          <p:cNvPr id="314" name="Google Shape;314;p32"/>
          <p:cNvSpPr txBox="1"/>
          <p:nvPr/>
        </p:nvSpPr>
        <p:spPr>
          <a:xfrm>
            <a:off x="571500" y="4804320"/>
            <a:ext cx="3867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Repositorio: github.com/ppedron1/lovecode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